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Wormhole Library Agent</a:t>
            </a:r>
          </a:p>
          <a:p>
            <a:pPr/>
            <a:endParaRPr lang="en-US" dirty="0"/>
          </a:p>
          <a:p>
            <a:pPr/>
            <a:r>
              <a:rPr lang="zh-CN" dirty="0"/>
              <a:t>这是一个把检索、馆藏、知识星图、混合记忆和证据写作连接起来的个人研究工作区。演示从一个模糊问题开始。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目标驱动检索</a:t>
            </a:r>
          </a:p>
          <a:p>
            <a:pPr/>
            <a:endParaRPr lang="en-US" dirty="0"/>
          </a:p>
          <a:p>
            <a:pPr/>
            <a:r>
              <a:rPr lang="zh-CN" dirty="0"/>
              <a:t>用户输入研究目标后，Agent 拆解检索意图，联合来源并按相关性整理。准确性是默认策略，意外度用于主动发散和每日推荐。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多源馆藏</a:t>
            </a:r>
          </a:p>
          <a:p>
            <a:pPr/>
            <a:endParaRPr lang="en-US" dirty="0"/>
          </a:p>
          <a:p>
            <a:pPr/>
            <a:r>
              <a:rPr lang="zh-CN" dirty="0"/>
              <a:t>OpenAlex、Open Library、个人合法馆藏和导入源共同参与检索。每条结果保留 provenance 和原始链接，服务不可用时明确降级。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Knowledge Atlas</a:t>
            </a:r>
          </a:p>
          <a:p>
            <a:pPr/>
            <a:endParaRPr lang="en-US" dirty="0"/>
          </a:p>
          <a:p>
            <a:pPr/>
            <a:r>
              <a:rPr lang="zh-CN" dirty="0"/>
              <a:t>星图用节点和连线表达分类、概念和个人关系。搜索频次影响亮度，知识距离影响位置，铜色节点表示混合记忆命中。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证据约束写作</a:t>
            </a:r>
          </a:p>
          <a:p>
            <a:pPr/>
            <a:endParaRPr lang="en-US" dirty="0"/>
          </a:p>
          <a:p>
            <a:pPr/>
            <a:r>
              <a:rPr lang="zh-CN" dirty="0"/>
              <a:t>探索台负责全量总结，写作台负责证据篮、草稿、回链、人工复核、checkpoint 和 Markdown 导出。上传资料可选择临时或进入私有知识库。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活馆藏</a:t>
            </a:r>
          </a:p>
          <a:p>
            <a:pPr/>
            <a:endParaRPr lang="en-US" dirty="0"/>
          </a:p>
          <a:p>
            <a:pPr/>
            <a:r>
              <a:rPr lang="zh-CN" dirty="0"/>
              <a:t>用户选择擅长主题和交流主题，双方同意后进行私密对话。AI 馆藏提供必定同意的演示入口，可共享明确选择的馆藏记录。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设置与交付</a:t>
            </a:r>
          </a:p>
          <a:p>
            <a:pPr/>
            <a:endParaRPr lang="en-US" dirty="0"/>
          </a:p>
          <a:p>
            <a:pPr/>
            <a:r>
              <a:rPr lang="zh-CN" dirty="0"/>
              <a:t>Provider、DeepSeek、语言、主题与个人馆藏源统一配置。应用同时提供 standalone Web 包和 Windows 安装包，生产部署需要独立密钥、迁移和合法授权。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结语</a:t>
            </a:r>
          </a:p>
          <a:p>
            <a:pPr/>
            <a:endParaRPr lang="en-US" dirty="0"/>
          </a:p>
          <a:p>
            <a:pPr/>
            <a:r>
              <a:rPr lang="zh-CN" dirty="0"/>
              <a:t>Wormhole Library Agent 的核心不是一次搜索，而是一条可恢复、可核验、可继续推进的研究路径。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ormhole-demo-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ormhole-demo-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29250"/>
            <a:ext cx="12192000" cy="920750"/>
          </a:xfrm>
          <a:custGeom>
            <a:avLst/>
            <a:gdLst/>
            <a:ahLst/>
            <a:cxnLst/>
            <a:rect l="l" t="t" r="r" b="b"/>
            <a:pathLst>
              <a:path w="12192000" h="920750">
                <a:moveTo>
                  <a:pt x="0" y="381000"/>
                </a:moveTo>
                <a:cubicBezTo>
                  <a:pt x="1651000" y="0"/>
                  <a:pt x="3238500" y="31750"/>
                  <a:pt x="4762500" y="476250"/>
                </a:cubicBezTo>
                <a:cubicBezTo>
                  <a:pt x="6286500" y="920750"/>
                  <a:pt x="8763000" y="809625"/>
                  <a:pt x="12192000" y="142875"/>
                </a:cubicBezTo>
              </a:path>
            </a:pathLst>
          </a:custGeom>
          <a:noFill/>
          <a:ln w="19050">
            <a:solidFill>
              <a:srgbClr val="2B302F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0" y="5638800"/>
            <a:ext cx="12192000" cy="920750"/>
          </a:xfrm>
          <a:custGeom>
            <a:avLst/>
            <a:gdLst/>
            <a:ahLst/>
            <a:cxnLst/>
            <a:rect l="l" t="t" r="r" b="b"/>
            <a:pathLst>
              <a:path w="12192000" h="920750">
                <a:moveTo>
                  <a:pt x="0" y="381000"/>
                </a:moveTo>
                <a:cubicBezTo>
                  <a:pt x="1651000" y="0"/>
                  <a:pt x="3238500" y="31750"/>
                  <a:pt x="4762500" y="476250"/>
                </a:cubicBezTo>
                <a:cubicBezTo>
                  <a:pt x="6286500" y="920750"/>
                  <a:pt x="8763000" y="809625"/>
                  <a:pt x="12192000" y="142875"/>
                </a:cubicBezTo>
              </a:path>
            </a:pathLst>
          </a:custGeom>
          <a:noFill/>
          <a:ln w="9525">
            <a:solidFill>
              <a:srgbClr val="252A29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7239000" y="1466850"/>
            <a:ext cx="4000500" cy="2705100"/>
            <a:chOff x="7239000" y="1466850"/>
            <a:chExt cx="4000500" cy="2705100"/>
          </a:xfrm>
        </p:grpSpPr>
        <p:sp>
          <p:nvSpPr>
            <p:cNvPr id="4" name="Freeform 4"/>
            <p:cNvSpPr/>
            <p:nvPr/>
          </p:nvSpPr>
          <p:spPr>
            <a:xfrm>
              <a:off x="8191500" y="1466850"/>
              <a:ext cx="3048000" cy="2705100"/>
            </a:xfrm>
            <a:custGeom>
              <a:avLst/>
              <a:gdLst/>
              <a:ahLst/>
              <a:cxnLst/>
              <a:rect l="l" t="t" r="r" b="b"/>
              <a:pathLst>
                <a:path w="3048000" h="2705100">
                  <a:moveTo>
                    <a:pt x="0" y="0"/>
                  </a:moveTo>
                  <a:lnTo>
                    <a:pt x="1333500" y="1200150"/>
                  </a:lnTo>
                  <a:lnTo>
                    <a:pt x="2381250" y="152400"/>
                  </a:lnTo>
                  <a:lnTo>
                    <a:pt x="3048000" y="1771650"/>
                  </a:lnTo>
                  <a:lnTo>
                    <a:pt x="1666875" y="2705100"/>
                  </a:lnTo>
                  <a:lnTo>
                    <a:pt x="285750" y="2533650"/>
                  </a:lnTo>
                  <a:close/>
                </a:path>
              </a:pathLst>
            </a:custGeom>
            <a:noFill/>
            <a:ln w="19050">
              <a:solidFill>
                <a:srgbClr val="8D9A92">
                  <a:alpha val="42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7239000" y="1466850"/>
              <a:ext cx="3333750" cy="2705100"/>
            </a:xfrm>
            <a:custGeom>
              <a:avLst/>
              <a:gdLst/>
              <a:ahLst/>
              <a:cxnLst/>
              <a:rect l="l" t="t" r="r" b="b"/>
              <a:pathLst>
                <a:path w="3333750" h="2705100">
                  <a:moveTo>
                    <a:pt x="2286000" y="1200150"/>
                  </a:moveTo>
                  <a:lnTo>
                    <a:pt x="2619375" y="2705100"/>
                  </a:lnTo>
                  <a:moveTo>
                    <a:pt x="1238250" y="2533650"/>
                  </a:moveTo>
                  <a:lnTo>
                    <a:pt x="0" y="1676400"/>
                  </a:lnTo>
                  <a:lnTo>
                    <a:pt x="952500" y="0"/>
                  </a:lnTo>
                  <a:moveTo>
                    <a:pt x="3333750" y="152400"/>
                  </a:moveTo>
                  <a:lnTo>
                    <a:pt x="2619375" y="2705100"/>
                  </a:lnTo>
                </a:path>
              </a:pathLst>
            </a:custGeom>
            <a:noFill/>
            <a:ln w="9525">
              <a:solidFill>
                <a:srgbClr val="8D9A92">
                  <a:alpha val="42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191375" y="1409700"/>
            <a:ext cx="4124325" cy="2828925"/>
            <a:chOff x="7191375" y="1409700"/>
            <a:chExt cx="4124325" cy="2828925"/>
          </a:xfrm>
        </p:grpSpPr>
        <p:sp>
          <p:nvSpPr>
            <p:cNvPr id="7" name="Ellipse 7"/>
            <p:cNvSpPr/>
            <p:nvPr/>
          </p:nvSpPr>
          <p:spPr>
            <a:xfrm>
              <a:off x="8134350" y="1409700"/>
              <a:ext cx="114300" cy="1143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420225" y="2562225"/>
              <a:ext cx="209550" cy="2095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525125" y="1571625"/>
              <a:ext cx="95250" cy="952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163300" y="3162300"/>
              <a:ext cx="152400" cy="1524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91700" y="4105275"/>
              <a:ext cx="133350" cy="1333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439150" y="3962400"/>
              <a:ext cx="76200" cy="762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191375" y="3095625"/>
              <a:ext cx="95250" cy="952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47700" y="857250"/>
            <a:ext cx="10420350" cy="4114800"/>
            <a:chOff x="647700" y="857250"/>
            <a:chExt cx="10420350" cy="4114800"/>
          </a:xfrm>
        </p:grpSpPr>
        <p:sp>
          <p:nvSpPr>
            <p:cNvPr id="15" name="Ellipse 15"/>
            <p:cNvSpPr/>
            <p:nvPr/>
          </p:nvSpPr>
          <p:spPr>
            <a:xfrm>
              <a:off x="647700" y="857250"/>
              <a:ext cx="38100" cy="38100"/>
            </a:xfrm>
            <a:prstGeom prst="ellipse">
              <a:avLst/>
            </a:prstGeom>
            <a:solidFill>
              <a:srgbClr val="D9D3C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685925" y="1685925"/>
              <a:ext cx="57150" cy="57150"/>
            </a:xfrm>
            <a:prstGeom prst="ellipse">
              <a:avLst/>
            </a:prstGeom>
            <a:solidFill>
              <a:srgbClr val="D9D3C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57950" y="1028700"/>
              <a:ext cx="38100" cy="38100"/>
            </a:xfrm>
            <a:prstGeom prst="ellipse">
              <a:avLst/>
            </a:prstGeom>
            <a:solidFill>
              <a:srgbClr val="D9D3C5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029450" y="4933950"/>
              <a:ext cx="38100" cy="38100"/>
            </a:xfrm>
            <a:prstGeom prst="ellipse">
              <a:avLst/>
            </a:prstGeom>
            <a:solidFill>
              <a:srgbClr val="D9D3C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029950" y="876300"/>
              <a:ext cx="38100" cy="38100"/>
            </a:xfrm>
            <a:prstGeom prst="ellipse">
              <a:avLst/>
            </a:prstGeom>
            <a:solidFill>
              <a:srgbClr val="D9D3C5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57250" y="1321118"/>
            <a:ext cx="4233748" cy="2259044"/>
            <a:chOff x="857250" y="1321118"/>
            <a:chExt cx="4233748" cy="2259044"/>
          </a:xfrm>
        </p:grpSpPr>
        <p:sp>
          <p:nvSpPr>
            <p:cNvPr id="21" name="TextBox 21"/>
            <p:cNvSpPr txBox="1"/>
            <p:nvPr/>
          </p:nvSpPr>
          <p:spPr>
            <a:xfrm>
              <a:off x="857250" y="1321118"/>
              <a:ext cx="285558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8E1D2"/>
                  </a:solidFill>
                  <a:latin typeface="Arial"/>
                  <a:ea typeface="Arial"/>
                  <a:cs typeface="Arial"/>
                </a:rPr>
                <a:t>Wormhole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444" y="2170748"/>
              <a:ext cx="25043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spc="375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LIBRARY AGENT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14400" y="27241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B84F4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5637" y="3242786"/>
              <a:ext cx="418536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AAA89E"/>
                  </a:solidFill>
                  <a:latin typeface="Arial"/>
                  <a:ea typeface="Microsoft YaHei"/>
                  <a:cs typeface="Arial"/>
                </a:rPr>
                <a:t>从一个研究目标，走到一份可核验的成果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8304" y="5775960"/>
            <a:ext cx="4107877" cy="573977"/>
            <a:chOff x="908304" y="5775960"/>
            <a:chExt cx="4107877" cy="573977"/>
          </a:xfrm>
        </p:grpSpPr>
        <p:sp>
          <p:nvSpPr>
            <p:cNvPr id="26" name="TextBox 26"/>
            <p:cNvSpPr txBox="1"/>
            <p:nvPr/>
          </p:nvSpPr>
          <p:spPr>
            <a:xfrm>
              <a:off x="908304" y="57759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8984"/>
                  </a:solidFill>
                  <a:latin typeface="Arial"/>
                  <a:ea typeface="Microsoft YaHei"/>
                  <a:cs typeface="Arial"/>
                </a:rPr>
                <a:t>目标驱动检索 · Knowledge Atlas · 混合记忆 · 证据写作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066" y="6144578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965"/>
                  </a:solidFill>
                  <a:latin typeface="Arial"/>
                  <a:ea typeface="Microsoft YaHei"/>
                  <a:cs typeface="Arial"/>
                </a:rPr>
                <a:t>项目演示 /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A1E1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20268" y="269558"/>
            <a:ext cx="716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8E1D2"/>
                </a:solidFill>
                <a:latin typeface="Arial"/>
                <a:ea typeface="Microsoft YaHei"/>
                <a:cs typeface="Arial"/>
              </a:rPr>
              <a:t>探索台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24085" y="307181"/>
            <a:ext cx="12553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9AFA8"/>
                </a:solidFill>
                <a:latin typeface="Arial"/>
                <a:ea typeface="Microsoft YaHei"/>
                <a:cs typeface="Arial"/>
              </a:rPr>
              <a:t>目标驱动检索 / 01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14934" y="1080135"/>
            <a:ext cx="5752148" cy="755618"/>
            <a:chOff x="614934" y="1080135"/>
            <a:chExt cx="5752148" cy="755618"/>
          </a:xfrm>
        </p:grpSpPr>
        <p:sp>
          <p:nvSpPr>
            <p:cNvPr id="5" name="TextBox 5"/>
            <p:cNvSpPr txBox="1"/>
            <p:nvPr/>
          </p:nvSpPr>
          <p:spPr>
            <a:xfrm>
              <a:off x="614934" y="108013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把模糊问题，变成一组可执行查询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1223" y="1586389"/>
              <a:ext cx="4378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Agent 先理解目标，再联合多个馆藏源检索、去重与排序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8650" y="2133600"/>
            <a:ext cx="6858000" cy="895350"/>
            <a:chOff x="628650" y="2133600"/>
            <a:chExt cx="6858000" cy="895350"/>
          </a:xfrm>
        </p:grpSpPr>
        <p:sp>
          <p:nvSpPr>
            <p:cNvPr id="8" name="Rectangle 8"/>
            <p:cNvSpPr/>
            <p:nvPr/>
          </p:nvSpPr>
          <p:spPr>
            <a:xfrm>
              <a:off x="628650" y="2133600"/>
              <a:ext cx="6858000" cy="895350"/>
            </a:xfrm>
            <a:prstGeom prst="roundRect">
              <a:avLst>
                <a:gd name="adj" fmla="val 4255"/>
              </a:avLst>
            </a:prstGeom>
            <a:solidFill>
              <a:srgbClr val="FBF8F0"/>
            </a:solidFill>
            <a:ln w="9525">
              <a:solidFill>
                <a:srgbClr val="C9C1B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541" y="2401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D84"/>
                  </a:solidFill>
                  <a:latin typeface="Arial"/>
                  <a:ea typeface="Microsoft YaHei"/>
                  <a:cs typeface="Arial"/>
                </a:rPr>
                <a:t>研究目标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874" y="2668429"/>
              <a:ext cx="53535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52B2A"/>
                  </a:solidFill>
                  <a:latin typeface="Arial"/>
                  <a:ea typeface="Microsoft YaHei"/>
                  <a:cs typeface="Arial"/>
                </a:rPr>
                <a:t>混合记忆如何提升研究型 AI Agent 的检索与写作质量？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0" y="2371725"/>
              <a:ext cx="685800" cy="419100"/>
            </a:xfrm>
            <a:prstGeom prst="roundRect">
              <a:avLst>
                <a:gd name="adj" fmla="val 6818"/>
              </a:avLst>
            </a:prstGeom>
            <a:solidFill>
              <a:srgbClr val="B84F4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47129" y="2518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8EC"/>
                  </a:solidFill>
                  <a:latin typeface="Arial"/>
                  <a:ea typeface="Microsoft YaHei"/>
                  <a:cs typeface="Arial"/>
                </a:rPr>
                <a:t>开始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81950" y="2133600"/>
            <a:ext cx="3371850" cy="2724150"/>
            <a:chOff x="7981950" y="2133600"/>
            <a:chExt cx="3371850" cy="2724150"/>
          </a:xfrm>
        </p:grpSpPr>
        <p:sp>
          <p:nvSpPr>
            <p:cNvPr id="14" name="Rectangle 14"/>
            <p:cNvSpPr/>
            <p:nvPr/>
          </p:nvSpPr>
          <p:spPr>
            <a:xfrm>
              <a:off x="7981950" y="2133600"/>
              <a:ext cx="3371850" cy="272415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81035" y="2374106"/>
              <a:ext cx="1365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AGENT QUERY PLAN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286750" y="270510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4E5A5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80654" y="2918460"/>
              <a:ext cx="1411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01 混合记忆 / RAG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80654" y="3270885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02 研究型智能体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62331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03 检索增强写作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81416" y="41443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1A29B"/>
                  </a:solidFill>
                  <a:latin typeface="Arial"/>
                  <a:ea typeface="Microsoft YaHei"/>
                  <a:cs typeface="Arial"/>
                </a:rPr>
                <a:t>已规划 3 条查询意图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3316" y="3734752"/>
            <a:ext cx="7235190" cy="808673"/>
            <a:chOff x="623316" y="3734752"/>
            <a:chExt cx="7235190" cy="808673"/>
          </a:xfrm>
        </p:grpSpPr>
        <p:sp>
          <p:nvSpPr>
            <p:cNvPr id="22" name="TextBox 22"/>
            <p:cNvSpPr txBox="1"/>
            <p:nvPr/>
          </p:nvSpPr>
          <p:spPr>
            <a:xfrm>
              <a:off x="623316" y="3734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D84"/>
                  </a:solidFill>
                  <a:latin typeface="Arial"/>
                  <a:ea typeface="Microsoft YaHei"/>
                  <a:cs typeface="Arial"/>
                </a:rPr>
                <a:t>一条主线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6750" y="4124325"/>
              <a:ext cx="419100" cy="419100"/>
            </a:xfrm>
            <a:prstGeom prst="ellipse">
              <a:avLst/>
            </a:prstGeom>
            <a:solidFill>
              <a:srgbClr val="B84F4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3529" y="4271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8EC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50442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理解目标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2381250" y="43338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solidFill>
              <a:srgbClr val="1A1E1E"/>
            </a:solidFill>
            <a:ln w="19050">
              <a:solidFill>
                <a:srgbClr val="B84F4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4124325"/>
              <a:ext cx="419100" cy="4191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18179" y="4271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E1E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65092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扫描来源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334000" y="43338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solidFill>
              <a:srgbClr val="1A1E1E"/>
            </a:solidFill>
            <a:ln w="19050">
              <a:solidFill>
                <a:srgbClr val="B84F4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34150" y="4124325"/>
              <a:ext cx="419100" cy="4191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70929" y="4271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E1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7842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排序沉淀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22935" y="5803106"/>
            <a:ext cx="36300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F756F"/>
                </a:solidFill>
                <a:latin typeface="Arial"/>
                <a:ea typeface="Microsoft YaHei"/>
                <a:cs typeface="Arial"/>
              </a:rPr>
              <a:t>准确搜索是默认；意外度只用于主动发散与每日推荐。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3796" y="543878"/>
            <a:ext cx="615347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8E1D2"/>
                </a:solidFill>
                <a:latin typeface="Arial"/>
                <a:ea typeface="Microsoft YaHei"/>
                <a:cs typeface="Arial"/>
              </a:rPr>
              <a:t>多源馆藏，不把一个接口当成全部世界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9704" y="105156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A39D"/>
                </a:solidFill>
                <a:latin typeface="Arial"/>
                <a:ea typeface="Microsoft YaHei"/>
                <a:cs typeface="Arial"/>
              </a:rPr>
              <a:t>来源状态透明，原始链接可回溯，排序结果可解释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85800" y="1809750"/>
            <a:ext cx="8229600" cy="1066800"/>
            <a:chOff x="685800" y="1809750"/>
            <a:chExt cx="8229600" cy="1066800"/>
          </a:xfrm>
        </p:grpSpPr>
        <p:sp>
          <p:nvSpPr>
            <p:cNvPr id="4" name="Rectangle 4"/>
            <p:cNvSpPr/>
            <p:nvPr/>
          </p:nvSpPr>
          <p:spPr>
            <a:xfrm>
              <a:off x="685800" y="1809750"/>
              <a:ext cx="2476500" cy="1066800"/>
            </a:xfrm>
            <a:prstGeom prst="rect">
              <a:avLst/>
            </a:prstGeom>
            <a:solidFill>
              <a:srgbClr val="1D2524"/>
            </a:solidFill>
            <a:ln w="9525">
              <a:solidFill>
                <a:srgbClr val="66746D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6404" y="2051685"/>
              <a:ext cx="72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OpenAlex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4880" y="2333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论文索引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676525" y="2038350"/>
              <a:ext cx="114300" cy="114300"/>
            </a:xfrm>
            <a:prstGeom prst="ellipse">
              <a:avLst/>
            </a:prstGeom>
            <a:solidFill>
              <a:srgbClr val="8FB28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562350" y="1809750"/>
              <a:ext cx="2476500" cy="1066800"/>
            </a:xfrm>
            <a:prstGeom prst="rect">
              <a:avLst/>
            </a:prstGeom>
            <a:solidFill>
              <a:srgbClr val="1D2524"/>
            </a:solidFill>
            <a:ln w="9525">
              <a:solidFill>
                <a:srgbClr val="66746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822954" y="2051685"/>
              <a:ext cx="1040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Open Library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21430" y="23336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图书与分类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553075" y="2038350"/>
              <a:ext cx="114300" cy="114300"/>
            </a:xfrm>
            <a:prstGeom prst="ellipse">
              <a:avLst/>
            </a:prstGeom>
            <a:solidFill>
              <a:srgbClr val="8FB28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38900" y="1809750"/>
              <a:ext cx="2476500" cy="1066800"/>
            </a:xfrm>
            <a:prstGeom prst="rect">
              <a:avLst/>
            </a:prstGeom>
            <a:solidFill>
              <a:srgbClr val="1D2524"/>
            </a:solidFill>
            <a:ln w="9525">
              <a:solidFill>
                <a:srgbClr val="66746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99504" y="2051685"/>
              <a:ext cx="1274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Personal Source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7980" y="2333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用户合法馆藏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429625" y="2038350"/>
              <a:ext cx="114300" cy="1143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80085" y="3374231"/>
            <a:ext cx="10140315" cy="2321719"/>
            <a:chOff x="680085" y="3374231"/>
            <a:chExt cx="10140315" cy="2321719"/>
          </a:xfrm>
        </p:grpSpPr>
        <p:sp>
          <p:nvSpPr>
            <p:cNvPr id="17" name="TextBox 17"/>
            <p:cNvSpPr txBox="1"/>
            <p:nvPr/>
          </p:nvSpPr>
          <p:spPr>
            <a:xfrm>
              <a:off x="680085" y="3374231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7B26C"/>
                  </a:solidFill>
                  <a:latin typeface="Arial"/>
                  <a:ea typeface="Microsoft YaHei"/>
                  <a:cs typeface="Arial"/>
                </a:rPr>
                <a:t>相关性排序 / 24 个候选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" y="373380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8413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000500"/>
              <a:ext cx="10134600" cy="476250"/>
            </a:xfrm>
            <a:prstGeom prst="rect">
              <a:avLst/>
            </a:prstGeom>
            <a:solidFill>
              <a:srgbClr val="20272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8873" y="4167664"/>
              <a:ext cx="3370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1D2"/>
                  </a:solidFill>
                  <a:latin typeface="Arial"/>
                  <a:ea typeface="Arial"/>
                  <a:cs typeface="Arial"/>
                </a:rPr>
                <a:t>01 Hybrid retrieval for research agents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28916" y="4191952"/>
              <a:ext cx="1698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BA39D"/>
                  </a:solidFill>
                  <a:latin typeface="Arial"/>
                  <a:ea typeface="Arial"/>
                  <a:cs typeface="Arial"/>
                </a:rPr>
                <a:t>OpenAlex · Open Library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5085" y="41838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0.94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" y="4610100"/>
              <a:ext cx="10134600" cy="47625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8873" y="4777264"/>
              <a:ext cx="2836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1D2"/>
                  </a:solidFill>
                  <a:latin typeface="Arial"/>
                  <a:ea typeface="Arial"/>
                  <a:cs typeface="Arial"/>
                </a:rPr>
                <a:t>02 Memory-augmented generation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28916" y="4801552"/>
              <a:ext cx="1372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OpenAlex · 个人馆藏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05085" y="47934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0.88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5219700"/>
              <a:ext cx="10134600" cy="476250"/>
            </a:xfrm>
            <a:prstGeom prst="rect">
              <a:avLst/>
            </a:prstGeom>
            <a:solidFill>
              <a:srgbClr val="20272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8873" y="5386864"/>
              <a:ext cx="3245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1D2"/>
                  </a:solidFill>
                  <a:latin typeface="Arial"/>
                  <a:ea typeface="Arial"/>
                  <a:cs typeface="Arial"/>
                </a:rPr>
                <a:t>03 Knowledge work and trustworthy AI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916" y="5411152"/>
              <a:ext cx="1502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Open Library · 导入源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05085" y="54030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0.81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5696" y="467678"/>
            <a:ext cx="718409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E1E"/>
                </a:solidFill>
                <a:latin typeface="Arial"/>
                <a:ea typeface="Microsoft YaHei"/>
                <a:cs typeface="Arial"/>
              </a:rPr>
              <a:t>Knowledge Atlas：把检索变成可导航的关系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604" y="975360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F756F"/>
                </a:solidFill>
                <a:latin typeface="Arial"/>
                <a:ea typeface="Microsoft YaHei"/>
                <a:cs typeface="Arial"/>
              </a:rPr>
              <a:t>搜索频次决定亮度，知识距离决定空间；铜色记忆层叠加在个人星图上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71700" y="1924050"/>
            <a:ext cx="7734300" cy="2971800"/>
            <a:chOff x="2171700" y="1924050"/>
            <a:chExt cx="7734300" cy="2971800"/>
          </a:xfrm>
        </p:grpSpPr>
        <p:sp>
          <p:nvSpPr>
            <p:cNvPr id="4" name="Freeform 4"/>
            <p:cNvSpPr/>
            <p:nvPr/>
          </p:nvSpPr>
          <p:spPr>
            <a:xfrm>
              <a:off x="2171700" y="1924050"/>
              <a:ext cx="7734300" cy="1962150"/>
            </a:xfrm>
            <a:custGeom>
              <a:avLst/>
              <a:gdLst/>
              <a:ahLst/>
              <a:cxnLst/>
              <a:rect l="l" t="t" r="r" b="b"/>
              <a:pathLst>
                <a:path w="7734300" h="1962150">
                  <a:moveTo>
                    <a:pt x="0" y="1962150"/>
                  </a:moveTo>
                  <a:lnTo>
                    <a:pt x="1562100" y="419100"/>
                  </a:lnTo>
                  <a:lnTo>
                    <a:pt x="3257550" y="1352550"/>
                  </a:lnTo>
                  <a:lnTo>
                    <a:pt x="4705350" y="152400"/>
                  </a:lnTo>
                  <a:lnTo>
                    <a:pt x="6362700" y="1238250"/>
                  </a:lnTo>
                  <a:lnTo>
                    <a:pt x="7734300" y="0"/>
                  </a:lnTo>
                </a:path>
              </a:pathLst>
            </a:custGeom>
            <a:noFill/>
            <a:ln w="19050">
              <a:solidFill>
                <a:srgbClr val="A6A293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3733800" y="1924050"/>
              <a:ext cx="6172200" cy="2971800"/>
            </a:xfrm>
            <a:custGeom>
              <a:avLst/>
              <a:gdLst/>
              <a:ahLst/>
              <a:cxnLst/>
              <a:rect l="l" t="t" r="r" b="b"/>
              <a:pathLst>
                <a:path w="6172200" h="2971800">
                  <a:moveTo>
                    <a:pt x="0" y="419100"/>
                  </a:moveTo>
                  <a:lnTo>
                    <a:pt x="647700" y="2933700"/>
                  </a:lnTo>
                  <a:lnTo>
                    <a:pt x="3143250" y="152400"/>
                  </a:lnTo>
                  <a:moveTo>
                    <a:pt x="1695450" y="1352550"/>
                  </a:moveTo>
                  <a:lnTo>
                    <a:pt x="3505200" y="2971800"/>
                  </a:lnTo>
                  <a:lnTo>
                    <a:pt x="4800600" y="1238250"/>
                  </a:lnTo>
                  <a:moveTo>
                    <a:pt x="3505200" y="2971800"/>
                  </a:moveTo>
                  <a:lnTo>
                    <a:pt x="6172200" y="0"/>
                  </a:lnTo>
                </a:path>
              </a:pathLst>
            </a:custGeom>
            <a:noFill/>
            <a:ln w="9525">
              <a:solidFill>
                <a:srgbClr val="A6A293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009775" y="1752600"/>
            <a:ext cx="8010525" cy="2295525"/>
            <a:chOff x="2009775" y="1752600"/>
            <a:chExt cx="8010525" cy="2295525"/>
          </a:xfrm>
        </p:grpSpPr>
        <p:sp>
          <p:nvSpPr>
            <p:cNvPr id="7" name="Ellipse 7"/>
            <p:cNvSpPr/>
            <p:nvPr/>
          </p:nvSpPr>
          <p:spPr>
            <a:xfrm>
              <a:off x="2009775" y="3724275"/>
              <a:ext cx="323850" cy="32385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486150" y="2095500"/>
              <a:ext cx="495300" cy="49530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14950" y="3162300"/>
              <a:ext cx="228600" cy="22860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553200" y="1752600"/>
              <a:ext cx="647700" cy="64770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353425" y="2981325"/>
              <a:ext cx="361950" cy="36195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91700" y="1809750"/>
              <a:ext cx="228600" cy="22860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305300" y="4781550"/>
            <a:ext cx="3028950" cy="209550"/>
            <a:chOff x="4305300" y="4781550"/>
            <a:chExt cx="3028950" cy="209550"/>
          </a:xfrm>
        </p:grpSpPr>
        <p:sp>
          <p:nvSpPr>
            <p:cNvPr id="14" name="Ellipse 14"/>
            <p:cNvSpPr/>
            <p:nvPr/>
          </p:nvSpPr>
          <p:spPr>
            <a:xfrm>
              <a:off x="4305300" y="4781550"/>
              <a:ext cx="152400" cy="152400"/>
            </a:xfrm>
            <a:prstGeom prst="ellipse">
              <a:avLst/>
            </a:prstGeom>
            <a:solidFill>
              <a:srgbClr val="B84F4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43750" y="4800600"/>
              <a:ext cx="190500" cy="190500"/>
            </a:xfrm>
            <a:prstGeom prst="ellipse">
              <a:avLst/>
            </a:prstGeom>
            <a:solidFill>
              <a:srgbClr val="B84F43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839325" y="1857375"/>
            <a:ext cx="133350" cy="133350"/>
            <a:chOff x="9839325" y="1857375"/>
            <a:chExt cx="133350" cy="133350"/>
          </a:xfrm>
        </p:grpSpPr>
        <p:sp>
          <p:nvSpPr>
            <p:cNvPr id="17" name="Ellipse 17"/>
            <p:cNvSpPr/>
            <p:nvPr/>
          </p:nvSpPr>
          <p:spPr>
            <a:xfrm>
              <a:off x="9839325" y="1857375"/>
              <a:ext cx="133350" cy="1333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524875" y="4000500"/>
            <a:ext cx="2667000" cy="1524000"/>
            <a:chOff x="8524875" y="4000500"/>
            <a:chExt cx="2667000" cy="1524000"/>
          </a:xfrm>
        </p:grpSpPr>
        <p:sp>
          <p:nvSpPr>
            <p:cNvPr id="19" name="Rectangle 19"/>
            <p:cNvSpPr/>
            <p:nvPr/>
          </p:nvSpPr>
          <p:spPr>
            <a:xfrm>
              <a:off x="8524875" y="4000500"/>
              <a:ext cx="2667000" cy="1524000"/>
            </a:xfrm>
            <a:prstGeom prst="rect">
              <a:avLst/>
            </a:prstGeom>
            <a:solidFill>
              <a:srgbClr val="FBF8F0"/>
            </a:solidFill>
            <a:ln w="9525">
              <a:solidFill>
                <a:srgbClr val="C9C1B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85479" y="42043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图层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782050" y="4572000"/>
              <a:ext cx="114300" cy="114300"/>
            </a:xfrm>
            <a:prstGeom prst="ellipse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05316" y="4572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知识关系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782050" y="4867275"/>
              <a:ext cx="114300" cy="114300"/>
            </a:xfrm>
            <a:prstGeom prst="ellipse">
              <a:avLst/>
            </a:prstGeom>
            <a:solidFill>
              <a:srgbClr val="B84F4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05316" y="48682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个人编辑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782050" y="5162550"/>
              <a:ext cx="114300" cy="1143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05316" y="51635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混合记忆命中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" y="5791200"/>
            <a:ext cx="7239000" cy="514350"/>
            <a:chOff x="628650" y="5791200"/>
            <a:chExt cx="7239000" cy="514350"/>
          </a:xfrm>
        </p:grpSpPr>
        <p:sp>
          <p:nvSpPr>
            <p:cNvPr id="28" name="Rectangle 28"/>
            <p:cNvSpPr/>
            <p:nvPr/>
          </p:nvSpPr>
          <p:spPr>
            <a:xfrm>
              <a:off x="628650" y="5791200"/>
              <a:ext cx="7239000" cy="51435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0204" y="598551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点击子星点下钻馆藏分类；点击书目打开原始页面；拖动距离回看自己的知识边界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A1E1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20268" y="2409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8E1D2"/>
                </a:solidFill>
                <a:latin typeface="Arial"/>
                <a:ea typeface="Microsoft YaHei"/>
                <a:cs typeface="Arial"/>
              </a:rPr>
              <a:t>写作工作台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86366" y="296228"/>
            <a:ext cx="11768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9AFA8"/>
                </a:solidFill>
                <a:latin typeface="Arial"/>
                <a:ea typeface="Microsoft YaHei"/>
                <a:cs typeface="Arial"/>
              </a:rPr>
              <a:t>证据约束写作 /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6458" y="960120"/>
            <a:ext cx="545226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E1E"/>
                </a:solidFill>
                <a:latin typeface="Arial"/>
                <a:ea typeface="Microsoft YaHei"/>
                <a:cs typeface="Arial"/>
              </a:rPr>
              <a:t>从确认过的来源，生成可复核的段落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1604" y="14230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F756F"/>
                </a:solidFill>
                <a:latin typeface="Arial"/>
                <a:ea typeface="Microsoft YaHei"/>
                <a:cs typeface="Arial"/>
              </a:rPr>
              <a:t>探索台负责全量总结；写作台负责证据篮、草稿、回链、复核与导出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28650" y="2095500"/>
            <a:ext cx="10153650" cy="2095500"/>
            <a:chOff x="628650" y="2095500"/>
            <a:chExt cx="10153650" cy="2095500"/>
          </a:xfrm>
        </p:grpSpPr>
        <p:sp>
          <p:nvSpPr>
            <p:cNvPr id="7" name="Rectangle 7"/>
            <p:cNvSpPr/>
            <p:nvPr/>
          </p:nvSpPr>
          <p:spPr>
            <a:xfrm>
              <a:off x="628650" y="2095500"/>
              <a:ext cx="2266950" cy="2095500"/>
            </a:xfrm>
            <a:prstGeom prst="rect">
              <a:avLst/>
            </a:prstGeom>
            <a:solidFill>
              <a:srgbClr val="FBF8F0"/>
            </a:solidFill>
            <a:ln w="9525">
              <a:solidFill>
                <a:srgbClr val="C9C1B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0966" y="23441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F43"/>
                  </a:solidFill>
                  <a:latin typeface="Arial"/>
                  <a:ea typeface="Microsoft YaHei"/>
                  <a:cs typeface="Arial"/>
                </a:rPr>
                <a:t>01 / 证据篮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299" y="2744629"/>
              <a:ext cx="12283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已确认 12 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3220402"/>
              <a:ext cx="756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F756F"/>
                  </a:solidFill>
                  <a:latin typeface="Arial"/>
                  <a:ea typeface="Arial"/>
                  <a:cs typeface="Arial"/>
                </a:rPr>
                <a:t>OpenAlex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966" y="3496628"/>
              <a:ext cx="103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F756F"/>
                  </a:solidFill>
                  <a:latin typeface="Arial"/>
                  <a:ea typeface="Arial"/>
                  <a:cs typeface="Arial"/>
                </a:rPr>
                <a:t>Open Library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966" y="37728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个人馆藏 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257550" y="2095500"/>
              <a:ext cx="2266950" cy="209550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99866" y="23441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7B26C"/>
                  </a:solidFill>
                  <a:latin typeface="Arial"/>
                  <a:ea typeface="Microsoft YaHei"/>
                  <a:cs typeface="Arial"/>
                </a:rPr>
                <a:t>02 / 初稿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97199" y="27446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证据标记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99866" y="3220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每个主张都带来源锚点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505200" y="3657600"/>
              <a:ext cx="1638300" cy="152400"/>
            </a:xfrm>
            <a:custGeom>
              <a:avLst/>
              <a:gdLst/>
              <a:ahLst/>
              <a:cxnLst/>
              <a:rect l="l" t="t" r="r" b="b"/>
              <a:pathLst>
                <a:path w="1638300" h="152400">
                  <a:moveTo>
                    <a:pt x="0" y="0"/>
                  </a:moveTo>
                  <a:lnTo>
                    <a:pt x="1638300" y="0"/>
                  </a:lnTo>
                  <a:moveTo>
                    <a:pt x="0" y="152400"/>
                  </a:moveTo>
                  <a:lnTo>
                    <a:pt x="1257300" y="1524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66746D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86450" y="2095500"/>
              <a:ext cx="2266950" cy="2095500"/>
            </a:xfrm>
            <a:prstGeom prst="rect">
              <a:avLst/>
            </a:prstGeom>
            <a:solidFill>
              <a:srgbClr val="FBF8F0"/>
            </a:solidFill>
            <a:ln w="9525">
              <a:solidFill>
                <a:srgbClr val="C9C1B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28766" y="23441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F43"/>
                  </a:solidFill>
                  <a:latin typeface="Arial"/>
                  <a:ea typeface="Microsoft YaHei"/>
                  <a:cs typeface="Arial"/>
                </a:rPr>
                <a:t>03 / 回链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6099" y="27446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逐条核验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28766" y="3220402"/>
              <a:ext cx="1516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原始链接 · provenance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28766" y="3496628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人工复核 · checkpoint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515350" y="2095500"/>
              <a:ext cx="2266950" cy="209550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57666" y="23441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7B26C"/>
                  </a:solidFill>
                  <a:latin typeface="Arial"/>
                  <a:ea typeface="Microsoft YaHei"/>
                  <a:cs typeface="Arial"/>
                </a:rPr>
                <a:t>04 / 导出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54999" y="2744629"/>
              <a:ext cx="10441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E8E1D2"/>
                  </a:solidFill>
                  <a:latin typeface="Arial"/>
                  <a:ea typeface="Arial"/>
                  <a:cs typeface="Arial"/>
                </a:rPr>
                <a:t>Markdown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7666" y="3220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保留引用与审阅痕迹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7666" y="34966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可继续编辑与恢复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2895600" y="3143250"/>
            <a:ext cx="5619750" cy="9525"/>
          </a:xfrm>
          <a:custGeom>
            <a:avLst/>
            <a:gdLst/>
            <a:ahLst/>
            <a:cxnLst/>
            <a:rect l="l" t="t" r="r" b="b"/>
            <a:pathLst>
              <a:path w="5619750" h="9525">
                <a:moveTo>
                  <a:pt x="0" y="0"/>
                </a:moveTo>
                <a:lnTo>
                  <a:pt x="361950" y="0"/>
                </a:lnTo>
                <a:moveTo>
                  <a:pt x="2628900" y="0"/>
                </a:moveTo>
                <a:lnTo>
                  <a:pt x="2990850" y="0"/>
                </a:lnTo>
                <a:moveTo>
                  <a:pt x="5257800" y="0"/>
                </a:moveTo>
                <a:lnTo>
                  <a:pt x="5619750" y="0"/>
                </a:lnTo>
              </a:path>
            </a:pathLst>
          </a:custGeom>
          <a:solidFill>
            <a:srgbClr val="000000"/>
          </a:solidFill>
          <a:ln w="28575">
            <a:solidFill>
              <a:srgbClr val="B84F4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21792" y="5112068"/>
            <a:ext cx="59565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E1E"/>
                </a:solidFill>
                <a:latin typeface="Arial"/>
                <a:ea typeface="Microsoft YaHei"/>
                <a:cs typeface="Arial"/>
              </a:rPr>
              <a:t>上传资料时可选择：仅当前工作流，或进入私有知识库（默认保留 30 天）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2935" y="5631656"/>
            <a:ext cx="423311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F756F"/>
                </a:solidFill>
                <a:latin typeface="Arial"/>
                <a:ea typeface="Microsoft YaHei"/>
                <a:cs typeface="Arial"/>
              </a:rPr>
              <a:t>模型不可用时明确降级为确定性证据草稿，不伪装成模型生成。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3415" y="554831"/>
            <a:ext cx="7063123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E8E1D2"/>
                </a:solidFill>
                <a:latin typeface="Arial"/>
                <a:ea typeface="Microsoft YaHei"/>
                <a:cs typeface="Arial"/>
              </a:rPr>
              <a:t>活馆藏：让知识可以被询问，也可以被分享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9704" y="1080135"/>
            <a:ext cx="3451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A39D"/>
                </a:solidFill>
                <a:latin typeface="Arial"/>
                <a:ea typeface="Microsoft YaHei"/>
                <a:cs typeface="Arial"/>
              </a:rPr>
              <a:t>同意优先的交流；AI 馆藏提供可控的演示问答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85800" y="1866900"/>
            <a:ext cx="4095750" cy="3429000"/>
            <a:chOff x="685800" y="1866900"/>
            <a:chExt cx="4095750" cy="3429000"/>
          </a:xfrm>
        </p:grpSpPr>
        <p:sp>
          <p:nvSpPr>
            <p:cNvPr id="4" name="Rectangle 4"/>
            <p:cNvSpPr/>
            <p:nvPr/>
          </p:nvSpPr>
          <p:spPr>
            <a:xfrm>
              <a:off x="685800" y="1866900"/>
              <a:ext cx="4095750" cy="3429000"/>
            </a:xfrm>
            <a:prstGeom prst="rect">
              <a:avLst/>
            </a:prstGeom>
            <a:solidFill>
              <a:srgbClr val="1D2524"/>
            </a:solidFill>
            <a:ln w="9525">
              <a:solidFill>
                <a:srgbClr val="66746D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84885" y="2145506"/>
              <a:ext cx="2010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ANONYMOUS LIVING LIBRARY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83361" y="26084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选择擅长主题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971800"/>
              <a:ext cx="1428750" cy="323850"/>
            </a:xfrm>
            <a:prstGeom prst="rect">
              <a:avLst/>
            </a:prstGeom>
            <a:solidFill>
              <a:srgbClr val="B84F4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5766" y="3077528"/>
              <a:ext cx="1053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8EC"/>
                  </a:solidFill>
                  <a:latin typeface="Arial"/>
                  <a:ea typeface="Microsoft YaHei"/>
                  <a:cs typeface="Arial"/>
                </a:rPr>
                <a:t>研究型 AI Agent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14600" y="2971800"/>
              <a:ext cx="1181100" cy="323850"/>
            </a:xfrm>
            <a:prstGeom prst="rect">
              <a:avLst/>
            </a:prstGeom>
            <a:solidFill>
              <a:srgbClr val="3841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18816" y="30775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知识组织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361" y="35418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希望交流主题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90600" y="3905250"/>
              <a:ext cx="1676400" cy="323850"/>
            </a:xfrm>
            <a:prstGeom prst="rect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4010978"/>
              <a:ext cx="1048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混合记忆与 RAG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5266" y="4649152"/>
              <a:ext cx="1377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B28A"/>
                  </a:solidFill>
                  <a:latin typeface="Arial"/>
                  <a:ea typeface="Microsoft YaHei"/>
                  <a:cs typeface="Arial"/>
                </a:rPr>
                <a:t>AI 馆藏：已同意交流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19750" y="1866900"/>
            <a:ext cx="5429250" cy="3429000"/>
            <a:chOff x="5619750" y="1866900"/>
            <a:chExt cx="5429250" cy="3429000"/>
          </a:xfrm>
        </p:grpSpPr>
        <p:sp>
          <p:nvSpPr>
            <p:cNvPr id="16" name="Rectangle 16"/>
            <p:cNvSpPr/>
            <p:nvPr/>
          </p:nvSpPr>
          <p:spPr>
            <a:xfrm>
              <a:off x="5619750" y="1866900"/>
              <a:ext cx="5429250" cy="3429000"/>
            </a:xfrm>
            <a:prstGeom prst="rect">
              <a:avLst/>
            </a:prstGeom>
            <a:solidFill>
              <a:srgbClr val="EEE8D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5792" y="2121218"/>
              <a:ext cx="1420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研究型 AI Agent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962650" y="247650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C9C1B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962650" y="2781300"/>
              <a:ext cx="3429000" cy="533400"/>
            </a:xfrm>
            <a:prstGeom prst="rect">
              <a:avLst/>
            </a:prstGeom>
            <a:solidFill>
              <a:srgbClr val="FFFAF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85535" y="29837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1E1E"/>
                  </a:solidFill>
                  <a:latin typeface="Arial"/>
                  <a:ea typeface="Microsoft YaHei"/>
                  <a:cs typeface="Arial"/>
                </a:rPr>
                <a:t>如何把长期偏好带入检索？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334250" y="3543300"/>
              <a:ext cx="3371850" cy="72390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7135" y="3736181"/>
              <a:ext cx="1915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先区分行为事件、RAG 片段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7135" y="39743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与跨会话编译的长期偏好。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962650" y="4629150"/>
              <a:ext cx="4743450" cy="400050"/>
            </a:xfrm>
            <a:prstGeom prst="rect">
              <a:avLst/>
            </a:prstGeom>
            <a:solidFill>
              <a:srgbClr val="FFFAF0"/>
            </a:solidFill>
            <a:ln w="9525">
              <a:solidFill>
                <a:srgbClr val="C9C1B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66866" y="4772978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D84"/>
                  </a:solidFill>
                  <a:latin typeface="Arial"/>
                  <a:ea typeface="Microsoft YaHei"/>
                  <a:cs typeface="Arial"/>
                </a:rPr>
                <a:t>共享已选择的馆藏记录…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5696" y="467678"/>
            <a:ext cx="723480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E1E"/>
                </a:solidFill>
                <a:latin typeface="Arial"/>
                <a:ea typeface="Microsoft YaHei"/>
                <a:cs typeface="Arial"/>
              </a:rPr>
              <a:t>设置中心：普通用户也能配置自己的研究环境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6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F756F"/>
                </a:solidFill>
                <a:latin typeface="Arial"/>
                <a:ea typeface="Microsoft YaHei"/>
                <a:cs typeface="Arial"/>
              </a:rPr>
              <a:t>模型、语言、主题与合法馆藏源统一管理，密钥只在服务端加密保存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28650" y="1714500"/>
            <a:ext cx="3333750" cy="3714750"/>
            <a:chOff x="628650" y="1714500"/>
            <a:chExt cx="3333750" cy="3714750"/>
          </a:xfrm>
        </p:grpSpPr>
        <p:sp>
          <p:nvSpPr>
            <p:cNvPr id="4" name="Rectangle 4"/>
            <p:cNvSpPr/>
            <p:nvPr/>
          </p:nvSpPr>
          <p:spPr>
            <a:xfrm>
              <a:off x="628650" y="1714500"/>
              <a:ext cx="3333750" cy="371475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8685" y="2012156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SETTINGS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7542" y="2502218"/>
              <a:ext cx="13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模型与 Provider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8304" y="2956560"/>
              <a:ext cx="1841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DeepSeek / OpenAI 兼容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3378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我的馆藏源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3832860"/>
              <a:ext cx="1940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BA39D"/>
                  </a:solidFill>
                  <a:latin typeface="Arial"/>
                  <a:ea typeface="Arial"/>
                  <a:cs typeface="Arial"/>
                </a:rPr>
                <a:t>OPAC / API / MARC / CSV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4254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语言与外观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304" y="4709160"/>
              <a:ext cx="1909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深夜纸墨 / 中文 / English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67250" y="1714500"/>
            <a:ext cx="6343650" cy="3714750"/>
            <a:chOff x="4667250" y="1714500"/>
            <a:chExt cx="6343650" cy="3714750"/>
          </a:xfrm>
        </p:grpSpPr>
        <p:sp>
          <p:nvSpPr>
            <p:cNvPr id="13" name="Rectangle 13"/>
            <p:cNvSpPr/>
            <p:nvPr/>
          </p:nvSpPr>
          <p:spPr>
            <a:xfrm>
              <a:off x="4667250" y="1714500"/>
              <a:ext cx="6343650" cy="1619250"/>
            </a:xfrm>
            <a:prstGeom prst="rect">
              <a:avLst/>
            </a:prstGeom>
            <a:solidFill>
              <a:srgbClr val="FBF8F0"/>
            </a:solidFill>
            <a:ln w="9525">
              <a:solidFill>
                <a:srgbClr val="C9C1B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04435" y="2012156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84F43"/>
                  </a:solidFill>
                  <a:latin typeface="Arial"/>
                  <a:ea typeface="Arial"/>
                  <a:cs typeface="Arial"/>
                </a:rPr>
                <a:t>DELIVERY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00625" y="2369344"/>
              <a:ext cx="190003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1A1E1E"/>
                  </a:solidFill>
                  <a:latin typeface="Arial"/>
                  <a:ea typeface="Arial"/>
                  <a:cs typeface="Arial"/>
                </a:rPr>
                <a:t>Web standalone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04054" y="2823210"/>
              <a:ext cx="3884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F756F"/>
                  </a:solidFill>
                  <a:latin typeface="Arial"/>
                  <a:ea typeface="Microsoft YaHei"/>
                  <a:cs typeface="Arial"/>
                </a:rPr>
                <a:t>Next.js 服务端应用 · 数据库迁移 · HTTPS 反向代理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667250" y="3714750"/>
              <a:ext cx="6343650" cy="1714500"/>
            </a:xfrm>
            <a:prstGeom prst="rect">
              <a:avLst/>
            </a:prstGeom>
            <a:solidFill>
              <a:srgbClr val="1A1E1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04435" y="4021931"/>
              <a:ext cx="656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7B26C"/>
                  </a:solidFill>
                  <a:latin typeface="Arial"/>
                  <a:ea typeface="Arial"/>
                  <a:cs typeface="Arial"/>
                </a:rPr>
                <a:t>DESKTOP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00625" y="4379119"/>
              <a:ext cx="188151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Windows 安装包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04054" y="4842510"/>
              <a:ext cx="3512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BA39D"/>
                  </a:solidFill>
                  <a:latin typeface="Arial"/>
                  <a:ea typeface="Microsoft YaHei"/>
                  <a:cs typeface="Arial"/>
                </a:rPr>
                <a:t>Electron 壳 · 内置 standalone 服务 · 自有图标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250" y="4095750"/>
            <a:ext cx="10191750" cy="1714500"/>
          </a:xfrm>
          <a:custGeom>
            <a:avLst/>
            <a:gdLst/>
            <a:ahLst/>
            <a:cxnLst/>
            <a:rect l="l" t="t" r="r" b="b"/>
            <a:pathLst>
              <a:path w="10191750" h="1714500">
                <a:moveTo>
                  <a:pt x="0" y="1238250"/>
                </a:moveTo>
                <a:cubicBezTo>
                  <a:pt x="1714500" y="476250"/>
                  <a:pt x="2667000" y="1714500"/>
                  <a:pt x="4286250" y="857250"/>
                </a:cubicBezTo>
                <a:cubicBezTo>
                  <a:pt x="5905500" y="0"/>
                  <a:pt x="7715250" y="0"/>
                  <a:pt x="10191750" y="857250"/>
                </a:cubicBezTo>
              </a:path>
            </a:pathLst>
          </a:custGeom>
          <a:noFill/>
          <a:ln w="19050">
            <a:solidFill>
              <a:srgbClr val="2D3834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1628775" y="4448175"/>
            <a:ext cx="9115425" cy="857250"/>
            <a:chOff x="1628775" y="4448175"/>
            <a:chExt cx="9115425" cy="857250"/>
          </a:xfrm>
        </p:grpSpPr>
        <p:sp>
          <p:nvSpPr>
            <p:cNvPr id="3" name="Ellipse 3"/>
            <p:cNvSpPr/>
            <p:nvPr/>
          </p:nvSpPr>
          <p:spPr>
            <a:xfrm>
              <a:off x="1628775" y="4943475"/>
              <a:ext cx="133350" cy="1333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952875" y="5210175"/>
              <a:ext cx="95250" cy="952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6486525" y="4581525"/>
              <a:ext cx="171450" cy="1714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753475" y="4448175"/>
              <a:ext cx="95250" cy="9525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591800" y="4724400"/>
              <a:ext cx="152400" cy="152400"/>
            </a:xfrm>
            <a:prstGeom prst="ellipse">
              <a:avLst/>
            </a:prstGeom>
            <a:solidFill>
              <a:srgbClr val="D7B26C"/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870204" y="1489710"/>
            <a:ext cx="25127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300" dirty="0">
                <a:solidFill>
                  <a:srgbClr val="D7B26C"/>
                </a:solidFill>
                <a:latin typeface="Arial"/>
                <a:ea typeface="Arial"/>
                <a:cs typeface="Arial"/>
              </a:rPr>
              <a:t>ONE RESEARCH THREAD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8774" y="1894522"/>
            <a:ext cx="6862305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E8E1D2"/>
                </a:solidFill>
                <a:latin typeface="Arial"/>
                <a:ea typeface="Microsoft YaHei"/>
                <a:cs typeface="Arial"/>
              </a:rPr>
              <a:t>从问题出发，留下可恢复的知识</a:t>
            </a:r>
          </a:p>
        </p:txBody>
      </p:sp>
      <p:sp>
        <p:nvSpPr>
          <p:cNvPr id="11" name="Freeform 11"/>
          <p:cNvSpPr/>
          <p:nvPr/>
        </p:nvSpPr>
        <p:spPr>
          <a:xfrm>
            <a:off x="895350" y="2647950"/>
            <a:ext cx="3486150" cy="9525"/>
          </a:xfrm>
          <a:custGeom>
            <a:avLst/>
            <a:gdLst/>
            <a:ahLst/>
            <a:cxnLst/>
            <a:rect l="l" t="t" r="r" b="b"/>
            <a:pathLst>
              <a:path w="3486150" h="9525">
                <a:moveTo>
                  <a:pt x="0" y="0"/>
                </a:moveTo>
                <a:lnTo>
                  <a:pt x="34861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B84F43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87349" y="3087529"/>
            <a:ext cx="312141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9BA39D"/>
                </a:solidFill>
                <a:latin typeface="Arial"/>
                <a:ea typeface="Microsoft YaHei"/>
                <a:cs typeface="Arial"/>
              </a:rPr>
              <a:t>检索 · 连接 · 记忆 · 写作 · 核验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5350" y="4095750"/>
            <a:ext cx="4762500" cy="1066800"/>
            <a:chOff x="895350" y="4095750"/>
            <a:chExt cx="4762500" cy="1066800"/>
          </a:xfrm>
        </p:grpSpPr>
        <p:sp>
          <p:nvSpPr>
            <p:cNvPr id="13" name="Rectangle 13"/>
            <p:cNvSpPr/>
            <p:nvPr/>
          </p:nvSpPr>
          <p:spPr>
            <a:xfrm>
              <a:off x="895350" y="4095750"/>
              <a:ext cx="4762500" cy="1066800"/>
            </a:xfrm>
            <a:prstGeom prst="rect">
              <a:avLst/>
            </a:prstGeom>
            <a:solidFill>
              <a:srgbClr val="1D2524"/>
            </a:solidFill>
            <a:ln w="9525">
              <a:solidFill>
                <a:srgbClr val="66746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75385" y="4336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7B26C"/>
                  </a:solidFill>
                  <a:latin typeface="Arial"/>
                  <a:ea typeface="Microsoft YaHei"/>
                  <a:cs typeface="Arial"/>
                </a:rPr>
                <a:t>公开交付材料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4623" y="4682014"/>
              <a:ext cx="3901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8E1D2"/>
                  </a:solidFill>
                  <a:latin typeface="Arial"/>
                  <a:ea typeface="Microsoft YaHei"/>
                  <a:cs typeface="Arial"/>
                </a:rPr>
                <a:t>GitHub 源码 · Web 包 · Windows 安装包 · 演示稿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89635" y="5955506"/>
            <a:ext cx="34792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9736E"/>
                </a:solidFill>
                <a:latin typeface="Arial"/>
                <a:ea typeface="Microsoft YaHei"/>
                <a:cs typeface="Arial"/>
              </a:rPr>
              <a:t>外部馆藏与模型服务遵循授权、密钥与可用性边界。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ormhole-demo-ppt">
  <a:themeElements>
    <a:clrScheme name="wormhole-demo-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ormhole-demo-pp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ormhole-demo-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ormhole-demo-ppt">
  <a:themeElements>
    <a:clrScheme name="wormhole-demo-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ormhole-demo-pp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ormhole-demo-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2026-08-30T07:09:25Z</dcterms:created>
  <dcterms:modified xsi:type="dcterms:W3CDTF">2026-08-30T07:09:25Z</dcterms:modified>
  <cp:category/>
  <cp:contentStatus/>
</cp:coreProperties>
</file>